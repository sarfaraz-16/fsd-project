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4"/>
    <p:sldId id="260" r:id="rId3"/>
    <p:sldId id="264" r:id="rId5"/>
    <p:sldId id="259" r:id="rId6"/>
    <p:sldId id="261" r:id="rId7"/>
    <p:sldId id="262" r:id="rId8"/>
    <p:sldId id="265" r:id="rId9"/>
    <p:sldId id="266" r:id="rId10"/>
    <p:sldId id="258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86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99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60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490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2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91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9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97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32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87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6495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119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0788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117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59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057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BB8DF-F762-4931-8277-2F50EF193A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BD5EE6F-5839-45EF-9E43-6915609CB1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5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" y="228600"/>
            <a:ext cx="2851518" cy="6638627"/>
          </a:xfrm>
          <a:custGeom>
            <a:avLst/>
            <a:gdLst/>
            <a:ahLst/>
            <a:cxnLst/>
            <a:rect l="l" t="t" r="r" b="b"/>
            <a:pathLst>
              <a:path w="4277277" h="9957940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3" y="159"/>
            <a:ext cx="2356675" cy="6853098"/>
          </a:xfrm>
          <a:custGeom>
            <a:avLst/>
            <a:gdLst/>
            <a:ahLst/>
            <a:cxnLst/>
            <a:rect l="l" t="t" r="r" b="b"/>
            <a:pathLst>
              <a:path w="3535013" h="10279647">
                <a:moveTo>
                  <a:pt x="0" y="0"/>
                </a:moveTo>
                <a:lnTo>
                  <a:pt x="3535013" y="0"/>
                </a:lnTo>
                <a:lnTo>
                  <a:pt x="3535013" y="10279647"/>
                </a:lnTo>
                <a:lnTo>
                  <a:pt x="0" y="10279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" cy="6858000"/>
            <a:chOff x="0" y="0"/>
            <a:chExt cx="36576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5760" cy="13716000"/>
            </a:xfrm>
            <a:custGeom>
              <a:avLst/>
              <a:gdLst/>
              <a:ahLst/>
              <a:cxnLst/>
              <a:rect l="l" t="t" r="r" b="b"/>
              <a:pathLst>
                <a:path w="365760" h="1371600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536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0" y="4323810"/>
            <a:ext cx="1744650" cy="778586"/>
            <a:chOff x="0" y="0"/>
            <a:chExt cx="3489300" cy="15571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84626" cy="1557147"/>
            </a:xfrm>
            <a:custGeom>
              <a:avLst/>
              <a:gdLst/>
              <a:ahLst/>
              <a:cxnLst/>
              <a:rect l="l" t="t" r="r" b="b"/>
              <a:pathLst>
                <a:path w="3484626" h="1557147">
                  <a:moveTo>
                    <a:pt x="2692019" y="1557147"/>
                  </a:moveTo>
                  <a:cubicBezTo>
                    <a:pt x="2720213" y="1557147"/>
                    <a:pt x="2738882" y="1547749"/>
                    <a:pt x="2748280" y="1538351"/>
                  </a:cubicBezTo>
                  <a:cubicBezTo>
                    <a:pt x="2748280" y="1528953"/>
                    <a:pt x="2757678" y="1528953"/>
                    <a:pt x="2757678" y="1528953"/>
                  </a:cubicBezTo>
                  <a:cubicBezTo>
                    <a:pt x="3470529" y="815975"/>
                    <a:pt x="3470529" y="815975"/>
                    <a:pt x="3470529" y="815975"/>
                  </a:cubicBezTo>
                  <a:cubicBezTo>
                    <a:pt x="3489325" y="797179"/>
                    <a:pt x="3489325" y="759714"/>
                    <a:pt x="3470529" y="731520"/>
                  </a:cubicBezTo>
                  <a:cubicBezTo>
                    <a:pt x="2757678" y="27940"/>
                    <a:pt x="2757678" y="27940"/>
                    <a:pt x="2757678" y="27940"/>
                  </a:cubicBezTo>
                  <a:cubicBezTo>
                    <a:pt x="2757678" y="18542"/>
                    <a:pt x="2748280" y="18542"/>
                    <a:pt x="2748280" y="18542"/>
                  </a:cubicBezTo>
                  <a:cubicBezTo>
                    <a:pt x="2738882" y="9398"/>
                    <a:pt x="2720213" y="0"/>
                    <a:pt x="26920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57147"/>
                    <a:pt x="0" y="1557147"/>
                    <a:pt x="0" y="1557147"/>
                  </a:cubicBezTo>
                  <a:lnTo>
                    <a:pt x="2692019" y="1557147"/>
                  </a:lnTo>
                  <a:close/>
                </a:path>
              </a:pathLst>
            </a:custGeom>
            <a:solidFill>
              <a:srgbClr val="353535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963595" y="648059"/>
            <a:ext cx="10029507" cy="1432560"/>
            <a:chOff x="0" y="0"/>
            <a:chExt cx="20059015" cy="2865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059014" cy="2865120"/>
            </a:xfrm>
            <a:custGeom>
              <a:avLst/>
              <a:gdLst/>
              <a:ahLst/>
              <a:cxnLst/>
              <a:rect l="l" t="t" r="r" b="b"/>
              <a:pathLst>
                <a:path w="20059014" h="2865120">
                  <a:moveTo>
                    <a:pt x="0" y="0"/>
                  </a:moveTo>
                  <a:lnTo>
                    <a:pt x="20059014" y="0"/>
                  </a:lnTo>
                  <a:lnTo>
                    <a:pt x="20059014" y="2865120"/>
                  </a:lnTo>
                  <a:lnTo>
                    <a:pt x="0" y="2865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6416" b="-8641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059015" cy="288417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3440"/>
                </a:lnSpc>
              </a:pPr>
              <a:r>
                <a:rPr lang="en-US" sz="2866" b="1">
                  <a:solidFill>
                    <a:srgbClr val="178DB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  </a:t>
              </a:r>
              <a:r>
                <a:rPr lang="en-US" sz="2866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EASWARI ENGINEERING COLLEGE</a:t>
              </a:r>
            </a:p>
            <a:p>
              <a:pPr>
                <a:lnSpc>
                  <a:spcPts val="3440"/>
                </a:lnSpc>
              </a:pPr>
              <a:endParaRPr lang="en-US" sz="286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45961" y="2691607"/>
            <a:ext cx="9000807" cy="3436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SmartERP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Enterprise Resource Planning System using MERN Stack </a:t>
            </a:r>
          </a:p>
          <a:p>
            <a:pPr algn="ctr">
              <a:lnSpc>
                <a:spcPts val="4320"/>
              </a:lnSpc>
            </a:pPr>
            <a:endParaRPr lang="en-IN" sz="2800" dirty="0">
              <a:solidFill>
                <a:srgbClr val="595959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ts val="4320"/>
              </a:lnSpc>
            </a:pPr>
            <a:endParaRPr lang="en-US" sz="2800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 the Guidance of                                    Presented By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Ms. D S K Harshitha                                       </a:t>
            </a:r>
            <a:r>
              <a:rPr lang="en-US" sz="2000" dirty="0">
                <a:solidFill>
                  <a:srgbClr val="595959"/>
                </a:solidFill>
                <a:latin typeface="Times New Roman"/>
                <a:ea typeface="Times New Roman Bold"/>
                <a:cs typeface="Times New Roman"/>
                <a:sym typeface="Times New Roman"/>
              </a:rPr>
              <a:t>S</a:t>
            </a:r>
            <a:r>
              <a:rPr lang="en-US" sz="20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arfarazuddin  (310624243166)</a:t>
            </a:r>
          </a:p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Technical Trainer, AIADS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839214" y="712457"/>
            <a:ext cx="1499997" cy="1303763"/>
            <a:chOff x="0" y="0"/>
            <a:chExt cx="2999994" cy="26075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99994" cy="2607564"/>
            </a:xfrm>
            <a:custGeom>
              <a:avLst/>
              <a:gdLst/>
              <a:ahLst/>
              <a:cxnLst/>
              <a:rect l="l" t="t" r="r" b="b"/>
              <a:pathLst>
                <a:path w="2999994" h="2607564">
                  <a:moveTo>
                    <a:pt x="0" y="0"/>
                  </a:moveTo>
                  <a:lnTo>
                    <a:pt x="2999994" y="0"/>
                  </a:lnTo>
                  <a:lnTo>
                    <a:pt x="2999994" y="2607564"/>
                  </a:lnTo>
                  <a:lnTo>
                    <a:pt x="0" y="260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" r="-18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39BB-2A7B-6615-B839-B06306AF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554" y="382821"/>
            <a:ext cx="8911687" cy="1280890"/>
          </a:xfrm>
        </p:spPr>
        <p:txBody>
          <a:bodyPr>
            <a:normAutofit/>
          </a:bodyPr>
          <a:lstStyle/>
          <a:p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6B42BC-5081-0B8C-7C56-2BC09248A4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3668468"/>
            <a:ext cx="53091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90704-2CF4-69BA-DE5C-F5B5C22B9940}"/>
              </a:ext>
            </a:extLst>
          </p:cNvPr>
          <p:cNvSpPr txBox="1"/>
          <p:nvPr/>
        </p:nvSpPr>
        <p:spPr>
          <a:xfrm>
            <a:off x="2412232" y="1663711"/>
            <a:ext cx="9209497" cy="39505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SmartERP is a web-based Enterprise Resource Planning application, built using the MERN stack (MongoDB, Express.js, React.js, and Node.js), that integrates inventory, sales, purchase, and HR into a single platform, replacing scattered spreadsheets with one reliable source of truth.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follows a modular architecture with role-based access control, RESTful APIs, and a NoSQL database to manage real-time inventory levels, order processing, invoicing, and employee records.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and staff create, track, and manage business transactions through an intuitive React.js dashboard, reducing manual paperwork and improving overall operational efficiency. </a:t>
            </a:r>
          </a:p>
        </p:txBody>
      </p:sp>
    </p:spTree>
    <p:extLst>
      <p:ext uri="{BB962C8B-B14F-4D97-AF65-F5344CB8AC3E}">
        <p14:creationId xmlns:p14="http://schemas.microsoft.com/office/powerpoint/2010/main" val="26390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D82C-0C09-0466-BEE6-59442F71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 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93698-E284-0F80-A647-7C172D5F1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76284"/>
            <a:ext cx="8915400" cy="3777622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this Project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965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39BB-2A7B-6615-B839-B06306AF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643" y="237577"/>
            <a:ext cx="8911687" cy="1280890"/>
          </a:xfrm>
        </p:spPr>
        <p:txBody>
          <a:bodyPr>
            <a:normAutofit/>
          </a:bodyPr>
          <a:lstStyle/>
          <a:p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6B42BC-5081-0B8C-7C56-2BC09248A4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3668468"/>
            <a:ext cx="53091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90704-2CF4-69BA-DE5C-F5B5C22B9940}"/>
              </a:ext>
            </a:extLst>
          </p:cNvPr>
          <p:cNvSpPr txBox="1"/>
          <p:nvPr/>
        </p:nvSpPr>
        <p:spPr>
          <a:xfrm>
            <a:off x="2441643" y="1518467"/>
            <a:ext cx="8911687" cy="495671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day-to-day business operations such as inventory, sales, purchases, and employee records is one of the most repetitive yet critical tasks for any small or medium-sized enterprise.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 business grows, departments generate large volumes of data, and relying on spreadsheets, paper records, or disconnected tools quickly becomes inefficient, causing duplicate entries and delayed decisions.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SmartERP is proposed to address this challenge by providing a unified, web-based platform built on the MERN stack that automates and streamlines core business processes end to end. </a:t>
            </a:r>
          </a:p>
        </p:txBody>
      </p:sp>
    </p:spTree>
    <p:extLst>
      <p:ext uri="{BB962C8B-B14F-4D97-AF65-F5344CB8AC3E}">
        <p14:creationId xmlns:p14="http://schemas.microsoft.com/office/powerpoint/2010/main" val="59792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191E8-8FB4-119A-8F8C-1EC9AC77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957" y="250485"/>
            <a:ext cx="8911687" cy="1280890"/>
          </a:xfrm>
        </p:spPr>
        <p:txBody>
          <a:bodyPr>
            <a:normAutofit/>
          </a:bodyPr>
          <a:lstStyle/>
          <a:p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B3FAE-8E42-FF9D-CFE2-B80A63362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957" y="1531375"/>
            <a:ext cx="9573291" cy="487188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Small and medium enterprises still manage inventory, sales, and employee data using manual registers or isolated spreadsheets, a process that is slow, error-prone, and difficult to scale.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Manual record-keeping frequently results in stock mismatches, duplicate or missing entries, and hours spent reconciling data from different sources for every change.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lack of automation leads to delayed reporting, poor inventory control, and inefficient resource utilization, directly affecting business productivity and decision-making.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400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684D-38AC-98B6-FA1B-0A851B512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2962" y="533161"/>
            <a:ext cx="8911687" cy="1280890"/>
          </a:xfrm>
        </p:spPr>
        <p:txBody>
          <a:bodyPr>
            <a:normAutofit/>
          </a:bodyPr>
          <a:lstStyle/>
          <a:p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D01F5647-4190-66F5-6FDF-F4B73CEF31E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502962" y="1796845"/>
            <a:ext cx="9091612" cy="2984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just">
              <a:lnSpc>
                <a:spcPct val="15000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Record Keeping &amp; Paper-based Sales Logs</a:t>
            </a:r>
          </a:p>
          <a:p>
            <a:pPr marL="488632" lvl="1" indent="-244316" algn="just">
              <a:lnSpc>
                <a:spcPct val="15000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Spreadsheet-based Inventory &amp; Isolated Employee Records</a:t>
            </a:r>
          </a:p>
          <a:p>
            <a:pPr marL="488632" lvl="1" indent="-244316" algn="just">
              <a:lnSpc>
                <a:spcPct val="15000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</a:p>
          <a:p>
            <a:pPr marL="488632" lvl="1" indent="-244316" algn="l">
              <a:lnSpc>
                <a:spcPts val="2160"/>
              </a:lnSpc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8893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6789-A1E3-51FA-5184-4F249EC34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560" y="604446"/>
            <a:ext cx="8911687" cy="1280890"/>
          </a:xfrm>
        </p:spPr>
        <p:txBody>
          <a:bodyPr>
            <a:normAutofit/>
          </a:bodyPr>
          <a:lstStyle/>
          <a:p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4408E2AC-D1BC-44EF-5F27-74AE62C71E41}"/>
              </a:ext>
            </a:extLst>
          </p:cNvPr>
          <p:cNvSpPr txBox="1"/>
          <p:nvPr/>
        </p:nvSpPr>
        <p:spPr>
          <a:xfrm>
            <a:off x="2324305" y="1885336"/>
            <a:ext cx="5570999" cy="2027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8632" lvl="1" indent="-244316" algn="just">
              <a:lnSpc>
                <a:spcPct val="15000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Inventory Management &amp; Sales/Purchase Order Processing </a:t>
            </a:r>
          </a:p>
          <a:p>
            <a:pPr marL="488632" lvl="1" indent="-244316" algn="just">
              <a:lnSpc>
                <a:spcPct val="15000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&amp; Role Management (HR) with Real-time Reporting Dashboard </a:t>
            </a:r>
          </a:p>
          <a:p>
            <a:pPr marL="488632" lvl="1" indent="-244316" algn="just">
              <a:lnSpc>
                <a:spcPct val="15000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MERN Stack based Web Architecture (MongoDB, Express, React, Node) </a:t>
            </a:r>
          </a:p>
        </p:txBody>
      </p:sp>
    </p:spTree>
    <p:extLst>
      <p:ext uri="{BB962C8B-B14F-4D97-AF65-F5344CB8AC3E}">
        <p14:creationId xmlns:p14="http://schemas.microsoft.com/office/powerpoint/2010/main" val="1298676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6789-A1E3-51FA-5184-4F249EC34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112" y="329142"/>
            <a:ext cx="8911687" cy="1280890"/>
          </a:xfrm>
        </p:spPr>
        <p:txBody>
          <a:bodyPr>
            <a:normAutofit/>
          </a:bodyPr>
          <a:lstStyle/>
          <a:p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ED562-DEF8-9C30-5A1C-A9650BC98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112" y="1492286"/>
            <a:ext cx="9166456" cy="4416902"/>
          </a:xfrm>
        </p:spPr>
        <p:txBody>
          <a:bodyPr>
            <a:normAutofit/>
          </a:bodyPr>
          <a:lstStyle/>
          <a:p>
            <a:pPr lvl="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design a unified ERP system that automates inventory, sales, purchase, and employee record management for small and medium businesses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ensure real-time data synchronization across departments using a centralized MongoDB database and RESTful APIs, with role-based access for administrators, managers, and staff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build a responsive and intuitive React.js dashboard that presents key business metrics and reports at a glance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253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6789-A1E3-51FA-5184-4F249EC34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954" y="587239"/>
            <a:ext cx="8911687" cy="1280890"/>
          </a:xfrm>
        </p:spPr>
        <p:txBody>
          <a:bodyPr>
            <a:normAutofit/>
          </a:bodyPr>
          <a:lstStyle/>
          <a:p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5F1A4B1F-6CE6-6D7F-3EBB-F4088CAD4492}"/>
              </a:ext>
            </a:extLst>
          </p:cNvPr>
          <p:cNvSpPr txBox="1"/>
          <p:nvPr/>
        </p:nvSpPr>
        <p:spPr>
          <a:xfrm>
            <a:off x="2145594" y="1582993"/>
            <a:ext cx="8306096" cy="2824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endParaRPr dirty="0"/>
          </a:p>
          <a:p>
            <a:pPr marL="488632" lvl="1" indent="-244316" algn="just">
              <a:lnSpc>
                <a:spcPct val="15000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to medium-sized businesses across retail, manufacturing, and service sectors.</a:t>
            </a:r>
          </a:p>
          <a:p>
            <a:pPr marL="488632" lvl="1" indent="-244316" algn="just">
              <a:lnSpc>
                <a:spcPct val="15000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management, sales and purchase order processing, and employee record management via a web-based dashboard for administrators, managers, and staff, built using React.js.</a:t>
            </a:r>
          </a:p>
          <a:p>
            <a:pPr marL="488632" lvl="1" indent="-244316" algn="just">
              <a:lnSpc>
                <a:spcPct val="150000"/>
              </a:lnSpc>
              <a:buFont typeface="Arial"/>
              <a:buChar char="•"/>
            </a:pPr>
            <a:r>
              <a:rPr lang="en-US" sz="1800" dirty="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stock alerts and automated reports, excluding advanced modules such as payroll processing and multi-branch accounting.</a:t>
            </a:r>
          </a:p>
          <a:p>
            <a:pPr marL="488632" lvl="1" indent="-244316" algn="l">
              <a:lnSpc>
                <a:spcPts val="3240"/>
              </a:lnSpc>
            </a:pPr>
            <a:endParaRPr lang="en-US" sz="1800" dirty="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9367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A456-8838-8F43-9F70-E34A669EA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70" y="614278"/>
            <a:ext cx="8911687" cy="1280890"/>
          </a:xfrm>
        </p:spPr>
        <p:txBody>
          <a:bodyPr>
            <a:normAutofit/>
          </a:bodyPr>
          <a:lstStyle/>
          <a:p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0DD3F-86A9-56D4-035C-5AFED2901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057" y="2074607"/>
            <a:ext cx="8915400" cy="37776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College ERP Using MERN Stack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by Patil, Daware, Bhagat &amp; Sawarkar, IJSRCSEIT (2021) </a:t>
            </a: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doi.org/10.32628/CSEIT217337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Why MERN Stack?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by Sharma, Garg, Sakshi, Kalra &amp; Bhatia, IJRASET (2022) </a:t>
            </a: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doi.org/10.22214/IJRASET.2022.47927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Review on Study and Usage of MERN Stack for Web Development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by Sumangla A. Bafna, IJRASET (2022) </a:t>
            </a: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doi.org/10.22214/ijraset.2022.40209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970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1268730"/>
            <a:ext cx="5875020" cy="485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1">
                <a:solidFill>
                  <a:srgbClr val="1F1F1F"/>
                </a:solidFill>
                <a:latin typeface="Times New Roman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6973054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228</TotalTime>
  <Words>618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Century Gothic</vt:lpstr>
      <vt:lpstr>Times New Roman</vt:lpstr>
      <vt:lpstr>Times New Roman Bold</vt:lpstr>
      <vt:lpstr>Wingdings</vt:lpstr>
      <vt:lpstr>Wingdings 3</vt:lpstr>
      <vt:lpstr>Wisp</vt:lpstr>
      <vt:lpstr>PowerPoint Presentation</vt:lpstr>
      <vt:lpstr> ABSTRACT</vt:lpstr>
      <vt:lpstr> CONTENTS </vt:lpstr>
      <vt:lpstr> INTRODUCTION</vt:lpstr>
      <vt:lpstr> PROBLEM STATEMENT</vt:lpstr>
      <vt:lpstr> EXISTING SYSTEM</vt:lpstr>
      <vt:lpstr> PROPOSED SYSTEM</vt:lpstr>
      <vt:lpstr> OBJECTIVES</vt:lpstr>
      <vt:lpstr> SCOPE</vt:lpstr>
      <vt:lpstr> LITERATURE SURVEY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santhanakumar S</cp:lastModifiedBy>
  <cp:revision>12</cp:revision>
  <dcterms:created xsi:type="dcterms:W3CDTF">2025-03-02T10:10:05Z</dcterms:created>
  <dcterms:modified xsi:type="dcterms:W3CDTF">2026-09-14T13:51:23Z</dcterms:modified>
</cp:coreProperties>
</file>